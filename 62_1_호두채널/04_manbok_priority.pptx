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DEFF"/>
                </a:solidFill>
              </a:rPr>
              <a:t>호두의 AI 분석실 71개 영상 완전학습 기반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바로보기님 맞춤 실천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</a:rPr>
              <a:t>만복 인사이트 기준  ·  댓글 수 + 실전 검증 + 구현 난이도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</a:rPr>
              <a:t>2026-06-26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93776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3F2FD"/>
                </a:solidFill>
              </a:rPr>
              <a:t>① 원본은 이미 존재한다  —  AlphaForge · The Desk · DeepFlow 모두 완성됨</a:t>
            </a:r>
          </a:p>
          <a:p>
            <a:r>
              <a:rPr sz="1300" b="0">
                <a:solidFill>
                  <a:srgbClr val="E3F2FD"/>
                </a:solidFill>
              </a:rPr>
              <a:t>② 선행학습의 덫을 피할 것  —  학습카드 70개 완료. 이제는 실행만</a:t>
            </a:r>
          </a:p>
          <a:p>
            <a:r>
              <a:rPr sz="1300" b="0">
                <a:solidFill>
                  <a:srgbClr val="E3F2FD"/>
                </a:solidFill>
              </a:rPr>
              <a:t>③ 텔레그램 시그널 수신이 첫 번째 마일스톤  —  n8n이 아닌 '시그널'이 목표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전체 구현 로드맵 — 4단계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5669280" cy="22860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66928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1단계  ·  2주 이내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470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텔레그램 시그널 수신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</a:rPr>
              <a:t>• bnsMfTHITYs 종가베팅 시스템 실행</a:t>
            </a:r>
          </a:p>
          <a:p>
            <a:r>
              <a:rPr sz="1200" b="0">
                <a:solidFill>
                  <a:srgbClr val="212121"/>
                </a:solidFill>
              </a:rPr>
              <a:t>• 매일 4시 텔레그램으로 종목 수신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669280" cy="228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669280" cy="502920"/>
          </a:xfrm>
          <a:prstGeom prst="rect">
            <a:avLst/>
          </a:prstGeom>
          <a:solidFill>
            <a:srgbClr val="E6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2단계  ·  1달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종가베팅 모의투자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</a:rPr>
              <a:t>• A등급 승률 직접 확인</a:t>
            </a:r>
          </a:p>
          <a:p>
            <a:r>
              <a:rPr sz="1200" b="0">
                <a:solidFill>
                  <a:srgbClr val="212121"/>
                </a:solidFill>
              </a:rPr>
              <a:t>• /GOAL로 백테스트 자동화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566928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56692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904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3단계  ·  2달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074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KIS API 실계좌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920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</a:rPr>
              <a:t>• 소액 자동 매수 실행</a:t>
            </a:r>
          </a:p>
          <a:p>
            <a:r>
              <a:rPr sz="1200" b="0">
                <a:solidFill>
                  <a:srgbClr val="212121"/>
                </a:solidFill>
              </a:rPr>
              <a:t>• 텔레그램 버튼 승인 (Human-in-the-Loop)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66928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66928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04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4단계  ·  3달+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074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</a:rPr>
              <a:t>AlphaForge 수준 완성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8920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</a:rPr>
              <a:t>• VCP + 수급 + AI 분석 전체 파이프라인</a:t>
            </a:r>
          </a:p>
          <a:p>
            <a:r>
              <a:rPr sz="1200" b="0">
                <a:solidFill>
                  <a:srgbClr val="212121"/>
                </a:solidFill>
              </a:rPr>
              <a:t>• 성과 대시보드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🔴  오늘 당장 봐야 할 영상 (이번 주)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325880"/>
            <a:ext cx="5669280" cy="23774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17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62828"/>
                </a:solidFill>
              </a:rPr>
              <a:t>①  bnsMfTHITYs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7099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AI 종가베팅 자동화 + 텔레그램 알림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488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실전 A등급 60% 승률 검증 (백테스트 아님!)
1월 42개 중 25개 승. 채널에서 유일하게 실전 P&amp;L 공개한 영상.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25880"/>
            <a:ext cx="5669280" cy="23774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417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62828"/>
                </a:solidFill>
              </a:rPr>
              <a:t>②  ziTLbsE9Cbc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7099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한국투자증권 API 연결 자동매매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4884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승인 5일 소요 → 지금 신청 안 하면 계속 기다려야 함.
댓글 145개. KIS Developers 가입 → 모의투자 신청 5분.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886200"/>
            <a:ext cx="5669280" cy="23774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977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62828"/>
                </a:solidFill>
              </a:rPr>
              <a:t>③  6_9mJEq9na0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702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33가지 트레이딩 스킬 팩 (Claude Code)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7091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댓글 838개 채널 압도적 1위. 무료코드 + 30분 안에 등록 가능.
CANSLIM · VCP · 드러큰밀러 전략 즉시 사용.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886200"/>
            <a:ext cx="5669280" cy="23774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977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62828"/>
                </a:solidFill>
              </a:rPr>
              <a:t>④  f7rbKnSRmqM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2702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Claude Code 비용 87% 줄이는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7091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설정 하나로 월 25만원 절약. JSON 설정 파일 추가 5분.
Haiku(탐색) / Sonnet(코딩) / Opus(설계) 역할 분담.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6446520"/>
            <a:ext cx="5669280" cy="21945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6537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62828"/>
                </a:solidFill>
              </a:rPr>
              <a:t>⑤  793eQr2udZU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6830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Status Line 히든 설정 (토큰 실시간)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72694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/statusline 한 줄. 토큰 소진 전에 미리 대응 가능.
모든 프로젝트에 전역 적용됨.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6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🟡  이번 달 봐야 할 영상 (구현 병행)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325880"/>
            <a:ext cx="3657600" cy="2377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5500"/>
                </a:solidFill>
              </a:rPr>
              <a:t>⑥  EJZfDLn67Kk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709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n8n 금융앱 만들기 (AlphaForge)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2194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전체 파이프라인 구조 이해용. 따라 만들 필요 없음.
종목발굴→필터→AI분석→텔레그램 흐름 파악.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325880"/>
            <a:ext cx="3657600" cy="2377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5500"/>
                </a:solidFill>
              </a:rPr>
              <a:t>⑦  aFRiUVjQgQ4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1709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n8n + Telegram 60초 봇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2194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Shorts라 짧음. n8n 입문으로 가장 빠름.
텔레그램 노드 연결 기초.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325880"/>
            <a:ext cx="3657600" cy="2377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5500"/>
                </a:solidFill>
              </a:rPr>
              <a:t>⑧  G1E921X5LYI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709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토스증권 API x 슬랙 1편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194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Human-in-the-Loop 구조 배우기.
승인/거부 버튼으로 최종 주문 제어.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3657600" cy="2377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977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5500"/>
                </a:solidFill>
              </a:rPr>
              <a:t>⑨  9rHXicztHTo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4270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텔레그램 Channel 플러그인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4754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Claude Code에서 직접 텔레그램 제어.
bun + BotFather 설치 필요.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3886200"/>
            <a:ext cx="3657600" cy="2377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3088" y="3977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5500"/>
                </a:solidFill>
              </a:rPr>
              <a:t>⑩  uT_3KSeEOGc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8" y="4270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Claude /GOAL 백테스트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8" y="4754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목표 달성까지 자율 반복. 에러 자가 수정.
종가베팅 전략 5년치 검증에 직접 활용.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886200"/>
            <a:ext cx="3657600" cy="23774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3977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5500"/>
                </a:solidFill>
              </a:rPr>
              <a:t>⑪  Imxj_T3bilM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270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2026년 Claude 금융 n8n (AlphaForge 완성판)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4754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Perplexity + DeepSeek + 텔레그램 실제 시연.
전체 시스템의 최종 목표 형태.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구현 1단계 · 2단계 — 텔레그램 시그널 수신 &amp; 종가베팅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80160"/>
            <a:ext cx="5669280" cy="53035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280160"/>
            <a:ext cx="566928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44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1단계 — 텔레그램 시그널 수신  (목표: 2주)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</a:rPr>
              <a:t>□ KIS Developers 가입 → 모의투자 신청 (오늘!)</a:t>
            </a:r>
          </a:p>
          <a:p>
            <a:r>
              <a:rPr sz="1200" b="0">
                <a:solidFill>
                  <a:srgbClr val="212121"/>
                </a:solidFill>
              </a:rPr>
              <a:t>□ BotFather에서 텔레그램 봇 생성 → 토큰 복사</a:t>
            </a:r>
          </a:p>
          <a:p>
            <a:r>
              <a:rPr sz="1200" b="0">
                <a:solidFill>
                  <a:srgbClr val="212121"/>
                </a:solidFill>
              </a:rPr>
              <a:t>□ bnsMfTHITYs 영상 따라 종가베팅 Python 실행</a:t>
            </a:r>
          </a:p>
          <a:p>
            <a:r>
              <a:rPr sz="1200" b="0">
                <a:solidFill>
                  <a:srgbClr val="212121"/>
                </a:solidFill>
              </a:rPr>
              <a:t>□ 매일 오후 4시 텔레그램으로 종목 수신 확인</a:t>
            </a:r>
          </a:p>
          <a:p>
            <a:r>
              <a:rPr sz="1200" b="0">
                <a:solidFill>
                  <a:srgbClr val="212121"/>
                </a:solidFill>
              </a:rPr>
              <a:t/>
            </a:r>
          </a:p>
          <a:p>
            <a:r>
              <a:rPr sz="1200" b="0">
                <a:solidFill>
                  <a:srgbClr val="212121"/>
                </a:solidFill>
              </a:rPr>
              <a:t>필요 영상:  bnsMfTHITYs  +  aFRiUVjQgQ4</a:t>
            </a:r>
          </a:p>
          <a:p>
            <a:r>
              <a:rPr sz="1200" b="0">
                <a:solidFill>
                  <a:srgbClr val="212121"/>
                </a:solidFill>
              </a:rPr>
              <a:t>필요 API:   KIS 모의투자 키 (무료)</a:t>
            </a:r>
          </a:p>
          <a:p>
            <a:r>
              <a:rPr sz="1200" b="0">
                <a:solidFill>
                  <a:srgbClr val="212121"/>
                </a:solidFill>
              </a:rPr>
              <a:t>예상 시간:  첫 세팅 2~3시간</a:t>
            </a:r>
          </a:p>
          <a:p>
            <a:r>
              <a:rPr sz="1200" b="0">
                <a:solidFill>
                  <a:srgbClr val="212121"/>
                </a:solidFill>
              </a:rPr>
              <a:t/>
            </a:r>
          </a:p>
          <a:p>
            <a:r>
              <a:rPr sz="1200" b="0">
                <a:solidFill>
                  <a:srgbClr val="212121"/>
                </a:solidFill>
              </a:rPr>
              <a:t>성공 기준:</a:t>
            </a:r>
          </a:p>
          <a:p>
            <a:r>
              <a:rPr sz="1200" b="0">
                <a:solidFill>
                  <a:srgbClr val="212121"/>
                </a:solidFill>
              </a:rPr>
              <a:t>→ 매일 오후 4시 10분 텔레그램에 종목 도착</a:t>
            </a:r>
          </a:p>
          <a:p>
            <a:r>
              <a:rPr sz="1200" b="0">
                <a:solidFill>
                  <a:srgbClr val="212121"/>
                </a:solidFill>
              </a:rPr>
              <a:t>→ S/A/B 등급 + 진입가 + 손절가 자동 표시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5943600" cy="5303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943600" cy="457200"/>
          </a:xfrm>
          <a:prstGeom prst="rect">
            <a:avLst/>
          </a:prstGeom>
          <a:solidFill>
            <a:srgbClr val="E6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441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2단계 — 종가베팅 모의투자 검증  (목표: 1달)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</a:rPr>
              <a:t>□ 매일 시그널 받은 종목 엑셀/노션에 기록</a:t>
            </a:r>
          </a:p>
          <a:p>
            <a:r>
              <a:rPr sz="1200" b="0">
                <a:solidFill>
                  <a:srgbClr val="212121"/>
                </a:solidFill>
              </a:rPr>
              <a:t>□ A등급만 선별해 다음날 시가 기준 추적</a:t>
            </a:r>
          </a:p>
          <a:p>
            <a:r>
              <a:rPr sz="1200" b="0">
                <a:solidFill>
                  <a:srgbClr val="212121"/>
                </a:solidFill>
              </a:rPr>
              <a:t>□ 목표 +9% / 손절 -5% 기준으로 결과 집계</a:t>
            </a:r>
          </a:p>
          <a:p>
            <a:r>
              <a:rPr sz="1200" b="0">
                <a:solidFill>
                  <a:srgbClr val="212121"/>
                </a:solidFill>
              </a:rPr>
              <a:t>□ /GOAL로 1년치 백테스트 자동화 실행</a:t>
            </a:r>
          </a:p>
          <a:p>
            <a:r>
              <a:rPr sz="1200" b="0">
                <a:solidFill>
                  <a:srgbClr val="212121"/>
                </a:solidFill>
              </a:rPr>
              <a:t/>
            </a:r>
          </a:p>
          <a:p>
            <a:r>
              <a:rPr sz="1200" b="0">
                <a:solidFill>
                  <a:srgbClr val="212121"/>
                </a:solidFill>
              </a:rPr>
              <a:t>필요 영상:  uT_3KSeEOGc (/GOAL 백테스트)</a:t>
            </a:r>
          </a:p>
          <a:p>
            <a:r>
              <a:rPr sz="1200" b="0">
                <a:solidFill>
                  <a:srgbClr val="212121"/>
                </a:solidFill>
              </a:rPr>
              <a:t>필요 도구:  Claude Desktop + Opus 4.7 1M</a:t>
            </a:r>
          </a:p>
          <a:p>
            <a:r>
              <a:rPr sz="1200" b="0">
                <a:solidFill>
                  <a:srgbClr val="212121"/>
                </a:solidFill>
              </a:rPr>
              <a:t>예상 시간:  3~4주 데이터 수집</a:t>
            </a:r>
          </a:p>
          <a:p>
            <a:r>
              <a:rPr sz="1200" b="0">
                <a:solidFill>
                  <a:srgbClr val="212121"/>
                </a:solidFill>
              </a:rPr>
              <a:t/>
            </a:r>
          </a:p>
          <a:p>
            <a:r>
              <a:rPr sz="1200" b="0">
                <a:solidFill>
                  <a:srgbClr val="212121"/>
                </a:solidFill>
              </a:rPr>
              <a:t>의사결정 기준:</a:t>
            </a:r>
          </a:p>
          <a:p>
            <a:r>
              <a:rPr sz="1200" b="0">
                <a:solidFill>
                  <a:srgbClr val="212121"/>
                </a:solidFill>
              </a:rPr>
              <a:t>→ A등급 승률 55% 이상이면 3단계 진행</a:t>
            </a:r>
          </a:p>
          <a:p>
            <a:r>
              <a:rPr sz="1200" b="0">
                <a:solidFill>
                  <a:srgbClr val="212121"/>
                </a:solidFill>
              </a:rPr>
              <a:t>→ 미달이면 전략 파라미터 조정 후 재검증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구현 3단계 · 4단계 — KIS API 실계좌 &amp; AlphaForge 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80160"/>
            <a:ext cx="566928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280160"/>
            <a:ext cx="566928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44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3단계 — KIS API 실계좌 연결  (목표: 2달)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</a:rPr>
              <a:t>□ KIS API 실계좌 키 발급 (모의투자 승인 후)</a:t>
            </a:r>
          </a:p>
          <a:p>
            <a:r>
              <a:rPr sz="1200" b="0">
                <a:solidFill>
                  <a:srgbClr val="212121"/>
                </a:solidFill>
              </a:rPr>
              <a:t>□ 텔레그램 버튼 승인 구조 구현</a:t>
            </a:r>
          </a:p>
          <a:p>
            <a:r>
              <a:rPr sz="1200" b="0">
                <a:solidFill>
                  <a:srgbClr val="212121"/>
                </a:solidFill>
              </a:rPr>
              <a:t>  (승인 → 매수 / 거부 → 스킵)</a:t>
            </a:r>
          </a:p>
          <a:p>
            <a:r>
              <a:rPr sz="1200" b="0">
                <a:solidFill>
                  <a:srgbClr val="212121"/>
                </a:solidFill>
              </a:rPr>
              <a:t>□ 손절 -5% / 익절 +9% 자동화</a:t>
            </a:r>
          </a:p>
          <a:p>
            <a:r>
              <a:rPr sz="1200" b="0">
                <a:solidFill>
                  <a:srgbClr val="212121"/>
                </a:solidFill>
              </a:rPr>
              <a:t>□ 일일 손실 한도 10% 설정</a:t>
            </a:r>
          </a:p>
          <a:p>
            <a:r>
              <a:rPr sz="1200" b="0">
                <a:solidFill>
                  <a:srgbClr val="212121"/>
                </a:solidFill>
              </a:rPr>
              <a:t>□ 소액 테스트 (1~5만원/종목)</a:t>
            </a:r>
          </a:p>
          <a:p>
            <a:r>
              <a:rPr sz="1200" b="0">
                <a:solidFill>
                  <a:srgbClr val="212121"/>
                </a:solidFill>
              </a:rPr>
              <a:t/>
            </a:r>
          </a:p>
          <a:p>
            <a:r>
              <a:rPr sz="1200" b="0">
                <a:solidFill>
                  <a:srgbClr val="212121"/>
                </a:solidFill>
              </a:rPr>
              <a:t>필요 영상:  ziTLbsE9Cbc  +  G1E921X5LYI</a:t>
            </a:r>
          </a:p>
          <a:p>
            <a:r>
              <a:rPr sz="1200" b="0">
                <a:solidFill>
                  <a:srgbClr val="212121"/>
                </a:solidFill>
              </a:rPr>
              <a:t>6겹 안전장치: 승인필수 · 연속실패정지 ·</a:t>
            </a:r>
          </a:p>
          <a:p>
            <a:r>
              <a:rPr sz="1200" b="0">
                <a:solidFill>
                  <a:srgbClr val="212121"/>
                </a:solidFill>
              </a:rPr>
              <a:t>일일손실한도 · 실거래 스위치 포함</a:t>
            </a:r>
          </a:p>
          <a:p>
            <a:r>
              <a:rPr sz="1200" b="0">
                <a:solidFill>
                  <a:srgbClr val="212121"/>
                </a:solidFill>
              </a:rPr>
              <a:t/>
            </a:r>
          </a:p>
          <a:p>
            <a:r>
              <a:rPr sz="1200" b="0">
                <a:solidFill>
                  <a:srgbClr val="212121"/>
                </a:solidFill>
              </a:rPr>
              <a:t>성공 기준:</a:t>
            </a:r>
          </a:p>
          <a:p>
            <a:r>
              <a:rPr sz="1200" b="0">
                <a:solidFill>
                  <a:srgbClr val="212121"/>
                </a:solidFill>
              </a:rPr>
              <a:t>→ 실계좌에서 자동 매수/매도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5943600" cy="5303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94360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441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4단계 — AlphaForge 수준 완성  (목표: 3달+)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12121"/>
                </a:solidFill>
              </a:rPr>
              <a:t>□ 종목 필터링 추가</a:t>
            </a:r>
          </a:p>
          <a:p>
            <a:r>
              <a:rPr sz="1200" b="0">
                <a:solidFill>
                  <a:srgbClr val="212121"/>
                </a:solidFill>
              </a:rPr>
              <a:t>  (VCP 패턴 · 이평선 정배열 · 수급)</a:t>
            </a:r>
          </a:p>
          <a:p>
            <a:r>
              <a:rPr sz="1200" b="0">
                <a:solidFill>
                  <a:srgbClr val="212121"/>
                </a:solidFill>
              </a:rPr>
              <a:t>□ 기관/외국인 수급 데이터 연동 (KIS)</a:t>
            </a:r>
          </a:p>
          <a:p>
            <a:r>
              <a:rPr sz="1200" b="0">
                <a:solidFill>
                  <a:srgbClr val="212121"/>
                </a:solidFill>
              </a:rPr>
              <a:t>□ Perplexity API 뉴스 검색 추가</a:t>
            </a:r>
          </a:p>
          <a:p>
            <a:r>
              <a:rPr sz="1200" b="0">
                <a:solidFill>
                  <a:srgbClr val="212121"/>
                </a:solidFill>
              </a:rPr>
              <a:t>□ DeepSeek AI 분석 + 점수 산출</a:t>
            </a:r>
          </a:p>
          <a:p>
            <a:r>
              <a:rPr sz="1200" b="0">
                <a:solidFill>
                  <a:srgbClr val="212121"/>
                </a:solidFill>
              </a:rPr>
              <a:t>□ 텔레그램 리포트 자동 발송</a:t>
            </a:r>
          </a:p>
          <a:p>
            <a:r>
              <a:rPr sz="1200" b="0">
                <a:solidFill>
                  <a:srgbClr val="212121"/>
                </a:solidFill>
              </a:rPr>
              <a:t>□ 성과 대시보드 구축</a:t>
            </a:r>
          </a:p>
          <a:p>
            <a:r>
              <a:rPr sz="1200" b="0">
                <a:solidFill>
                  <a:srgbClr val="212121"/>
                </a:solidFill>
              </a:rPr>
              <a:t/>
            </a:r>
          </a:p>
          <a:p>
            <a:r>
              <a:rPr sz="1200" b="0">
                <a:solidFill>
                  <a:srgbClr val="212121"/>
                </a:solidFill>
              </a:rPr>
              <a:t>필요 영상:  EJZfDLn67Kk  +  Imxj_T3bilM</a:t>
            </a:r>
          </a:p>
          <a:p>
            <a:r>
              <a:rPr sz="1200" b="0">
                <a:solidFill>
                  <a:srgbClr val="212121"/>
                </a:solidFill>
              </a:rPr>
              <a:t>참고: AlphaForge 무료 베타 예정</a:t>
            </a:r>
          </a:p>
          <a:p>
            <a:r>
              <a:rPr sz="1200" b="0">
                <a:solidFill>
                  <a:srgbClr val="212121"/>
                </a:solidFill>
              </a:rPr>
              <a:t>(디스코드 discord.gg/n7UfUcrrH7 확인)</a:t>
            </a:r>
          </a:p>
          <a:p>
            <a:r>
              <a:rPr sz="1200" b="0">
                <a:solidFill>
                  <a:srgbClr val="212121"/>
                </a:solidFill>
              </a:rPr>
              <a:t/>
            </a:r>
          </a:p>
          <a:p>
            <a:r>
              <a:rPr sz="1200" b="0">
                <a:solidFill>
                  <a:srgbClr val="212121"/>
                </a:solidFill>
              </a:rPr>
              <a:t>이게 최종 목표 시스템입니다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지금 바로 쓸 수 있는 무료 자원 (코딩 없이)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80160"/>
            <a:ext cx="269748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280160"/>
            <a:ext cx="269748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3533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오늘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874519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KIS API 모의투자 신청
apiportal.koreainvestment.com
→ 가입 → 모의투자 신청 (5분)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269748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0" y="1280160"/>
            <a:ext cx="2697480" cy="502920"/>
          </a:xfrm>
          <a:prstGeom prst="rect">
            <a:avLst/>
          </a:prstGeom>
          <a:solidFill>
            <a:srgbClr val="E6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3533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디스코드 자료실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874519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discord.gg/n7UfUcrrH7
→ 무료 MD 파일 다수
(주식앱 · VCP스캐너 · 배당앱 · 33스킬)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80160"/>
            <a:ext cx="269748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280160"/>
            <a:ext cx="26974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13533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The Desk (이미 완성)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874519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web-production-440c4.up.railway.app
→ 탑다운 분석 · 자금흐름 · 섹터히트맵
→ 구글 로그인 후 베타 접속 신청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69748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69748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13533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33가지 스킬 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874519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6_9mJEq9na0 영상 설명란 노션 링크
→ 링크 복사 → Claude에 붙여넣기
→ 스킬 등록 완료 (30분)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한 줄 요약: 준비는 완벽하다. KIS API 신청하고 종가베팅 시스템 모의투자로 먼저 돌려라.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